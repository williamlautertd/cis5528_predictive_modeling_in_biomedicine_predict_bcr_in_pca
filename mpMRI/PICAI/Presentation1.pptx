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7" r:id="rId4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9"/>
    <p:restoredTop sz="94681"/>
  </p:normalViewPr>
  <p:slideViewPr>
    <p:cSldViewPr snapToGrid="0" showGuides="1">
      <p:cViewPr>
        <p:scale>
          <a:sx n="39" d="100"/>
          <a:sy n="39" d="100"/>
        </p:scale>
        <p:origin x="3816" y="1000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5183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9094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1587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1504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1630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32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4107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8655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2590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3504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93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AB3BB-D2D6-3549-8A0C-F3978DAC3CA4}" type="datetimeFigureOut">
              <a:rPr lang="en-BR" smtClean="0"/>
              <a:t>19/04/26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C0814-F037-5B42-8AB3-7204B1B72B3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0147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72B6E0A-5DA7-BA7F-9EB4-5F900A0E8E76}"/>
              </a:ext>
            </a:extLst>
          </p:cNvPr>
          <p:cNvSpPr txBox="1">
            <a:spLocks/>
          </p:cNvSpPr>
          <p:nvPr/>
        </p:nvSpPr>
        <p:spPr>
          <a:xfrm>
            <a:off x="608166" y="125533"/>
            <a:ext cx="10842306" cy="36590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MRI embeddings extraction – Global patient-level 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56D7E1A-9C5F-32B4-5217-A1B554321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" t="2192" r="39021" b="58857"/>
          <a:stretch>
            <a:fillRect/>
          </a:stretch>
        </p:blipFill>
        <p:spPr bwMode="auto">
          <a:xfrm>
            <a:off x="2977642" y="250888"/>
            <a:ext cx="3462979" cy="136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6B7150-CDE1-723C-8602-EA0D066AF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5701" y="491442"/>
            <a:ext cx="5250651" cy="756711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30D6BF-3874-C80E-7442-822239B20CEC}"/>
              </a:ext>
            </a:extLst>
          </p:cNvPr>
          <p:cNvSpPr/>
          <p:nvPr/>
        </p:nvSpPr>
        <p:spPr>
          <a:xfrm>
            <a:off x="1626020" y="1990200"/>
            <a:ext cx="1311255" cy="4856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T2W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E6C32A-01FB-FBD0-50DC-211AC109904F}"/>
              </a:ext>
            </a:extLst>
          </p:cNvPr>
          <p:cNvSpPr/>
          <p:nvPr/>
        </p:nvSpPr>
        <p:spPr>
          <a:xfrm>
            <a:off x="4053505" y="1990200"/>
            <a:ext cx="1311255" cy="4856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ADC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B34455-2025-BCDE-3BB3-7BB6B07FBBFE}"/>
              </a:ext>
            </a:extLst>
          </p:cNvPr>
          <p:cNvSpPr/>
          <p:nvPr/>
        </p:nvSpPr>
        <p:spPr>
          <a:xfrm>
            <a:off x="6307774" y="1990200"/>
            <a:ext cx="1311255" cy="48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HBV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7231A2-3267-EB11-623B-3483CD989658}"/>
              </a:ext>
            </a:extLst>
          </p:cNvPr>
          <p:cNvSpPr/>
          <p:nvPr/>
        </p:nvSpPr>
        <p:spPr>
          <a:xfrm>
            <a:off x="1784522" y="2772187"/>
            <a:ext cx="999060" cy="4856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2C25DB-62E0-C84E-AE7E-A48D3F039E5D}"/>
              </a:ext>
            </a:extLst>
          </p:cNvPr>
          <p:cNvSpPr/>
          <p:nvPr/>
        </p:nvSpPr>
        <p:spPr>
          <a:xfrm>
            <a:off x="2760813" y="4074752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Enc2 — Conv3D 24→16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Shared trunk block 1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AED231-10EE-1AE1-A464-71287ADEE963}"/>
              </a:ext>
            </a:extLst>
          </p:cNvPr>
          <p:cNvSpPr/>
          <p:nvPr/>
        </p:nvSpPr>
        <p:spPr>
          <a:xfrm>
            <a:off x="3926931" y="4787322"/>
            <a:ext cx="1564396" cy="48563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Pool2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F685BE-63F6-55FF-C3A7-B7E7589BA8D6}"/>
              </a:ext>
            </a:extLst>
          </p:cNvPr>
          <p:cNvSpPr/>
          <p:nvPr/>
        </p:nvSpPr>
        <p:spPr>
          <a:xfrm>
            <a:off x="2760813" y="5495663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Enc3 — Conv3D 16→32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Shared trunk block 2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A22E90-6D38-EC0B-9314-846A94E37EFD}"/>
              </a:ext>
            </a:extLst>
          </p:cNvPr>
          <p:cNvSpPr/>
          <p:nvPr/>
        </p:nvSpPr>
        <p:spPr>
          <a:xfrm>
            <a:off x="1621424" y="7721109"/>
            <a:ext cx="1999858" cy="48563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Adaptive AvgPool3D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Global pattern (1×64)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8DA3AD6-6F9B-C106-5A6F-B2FA01B900E8}"/>
              </a:ext>
            </a:extLst>
          </p:cNvPr>
          <p:cNvSpPr/>
          <p:nvPr/>
        </p:nvSpPr>
        <p:spPr>
          <a:xfrm>
            <a:off x="5619170" y="7721109"/>
            <a:ext cx="1999859" cy="48563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Adaptive MaxPool3D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Focal signal (1×64)</a:t>
            </a:r>
            <a:endParaRPr lang="en-BR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6F011F0-363E-42B7-EEFD-91F609BF8559}"/>
              </a:ext>
            </a:extLst>
          </p:cNvPr>
          <p:cNvSpPr/>
          <p:nvPr/>
        </p:nvSpPr>
        <p:spPr>
          <a:xfrm>
            <a:off x="3621282" y="8383828"/>
            <a:ext cx="1999859" cy="48563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Dropout + FC linear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64-d embedding z</a:t>
            </a:r>
            <a:endParaRPr lang="en-BR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A36475C-D3F8-C3DB-CC70-D7592BDA1B63}"/>
              </a:ext>
            </a:extLst>
          </p:cNvPr>
          <p:cNvSpPr/>
          <p:nvPr/>
        </p:nvSpPr>
        <p:spPr>
          <a:xfrm>
            <a:off x="3621282" y="9212488"/>
            <a:ext cx="1997888" cy="48563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Classification head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FC 64→2, CE loss (weighted)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2907008-CCE4-5B46-DE2D-ED08FEB008FF}"/>
              </a:ext>
            </a:extLst>
          </p:cNvPr>
          <p:cNvSpPr/>
          <p:nvPr/>
        </p:nvSpPr>
        <p:spPr>
          <a:xfrm>
            <a:off x="4209602" y="2772187"/>
            <a:ext cx="999060" cy="4856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EFEAA3-8198-216A-40A8-3CB505123B27}"/>
              </a:ext>
            </a:extLst>
          </p:cNvPr>
          <p:cNvSpPr/>
          <p:nvPr/>
        </p:nvSpPr>
        <p:spPr>
          <a:xfrm>
            <a:off x="6463871" y="2772187"/>
            <a:ext cx="999060" cy="48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05EDCA6-BC1E-8B8A-716D-B30D6F868A4A}"/>
              </a:ext>
            </a:extLst>
          </p:cNvPr>
          <p:cNvSpPr/>
          <p:nvPr/>
        </p:nvSpPr>
        <p:spPr>
          <a:xfrm>
            <a:off x="3926931" y="6210883"/>
            <a:ext cx="1564396" cy="48563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Pool3 (2,2,2)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5A1E28F-F681-6215-5724-77C04A73DCCE}"/>
              </a:ext>
            </a:extLst>
          </p:cNvPr>
          <p:cNvSpPr/>
          <p:nvPr/>
        </p:nvSpPr>
        <p:spPr>
          <a:xfrm>
            <a:off x="2765751" y="6920276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Enc4 — Conv3D 32→64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Shared trunk block 3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55CAA09D-5BAD-894B-54BA-8672F48BCFB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3307322" y="588390"/>
            <a:ext cx="376136" cy="2427484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1F07ACD-B935-6B02-89C0-71449A3DD5F8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5648199" y="674997"/>
            <a:ext cx="376136" cy="225427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892B4BE6-FFD9-F2DD-DD64-446CAE7185F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521064" y="1802131"/>
            <a:ext cx="376136" cy="1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DA0B95-4BAD-5D79-5836-FF5698EE9BBA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2281648" y="2475832"/>
            <a:ext cx="2404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546FFA-DF78-0495-E257-8148A8B0C783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flipH="1">
            <a:off x="4709132" y="2475832"/>
            <a:ext cx="1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2E135BB-933B-9414-B972-C71467BF45A7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 flipH="1">
            <a:off x="6963401" y="2475832"/>
            <a:ext cx="1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21197BC-A5CE-71F2-F674-4B30A02A1617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4597252" y="3962872"/>
            <a:ext cx="223760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5C3158D-816B-C230-997D-9BA25F5B812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4595661" y="4673852"/>
            <a:ext cx="22693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CD5E4FC9-50BE-990D-C892-A8EE4D1E2A3B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597776" y="5384307"/>
            <a:ext cx="222709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45B6DD61-1496-F665-D72B-D5C358C0F1EA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rot="5400000">
            <a:off x="4594336" y="6096088"/>
            <a:ext cx="22958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71F3AF8A-2506-C9E6-CF01-3164D333A4BC}"/>
              </a:ext>
            </a:extLst>
          </p:cNvPr>
          <p:cNvCxnSpPr>
            <a:cxnSpLocks/>
          </p:cNvCxnSpPr>
          <p:nvPr/>
        </p:nvCxnSpPr>
        <p:spPr>
          <a:xfrm rot="5400000">
            <a:off x="4595483" y="6805379"/>
            <a:ext cx="22958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5D2438CA-ED40-FA31-E8F2-3A587D7C747B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 rot="5400000">
            <a:off x="3510111" y="6517150"/>
            <a:ext cx="315201" cy="209271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5F84926B-B5B4-9234-F539-8030AAF50E79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rot="16200000" flipH="1">
            <a:off x="5508984" y="6610992"/>
            <a:ext cx="315201" cy="190503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C64E6255-58F3-25D2-CCC3-06F4913A7DD9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2911366" y="7916728"/>
            <a:ext cx="419902" cy="9999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28F0B215-8CA0-3FA4-7084-8AA4DF5B3215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5910170" y="7917714"/>
            <a:ext cx="419902" cy="99795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0CA95028-188F-2D8D-5120-06CACC04F204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4449205" y="9040481"/>
            <a:ext cx="343028" cy="98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A94BF99-AA6B-39B5-82BC-C60E63BB221D}"/>
              </a:ext>
            </a:extLst>
          </p:cNvPr>
          <p:cNvSpPr txBox="1"/>
          <p:nvPr/>
        </p:nvSpPr>
        <p:spPr>
          <a:xfrm>
            <a:off x="4055915" y="3499364"/>
            <a:ext cx="1311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Concat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→ 24ch </a:t>
            </a:r>
            <a:endParaRPr lang="en-BR" sz="1400" dirty="0"/>
          </a:p>
        </p:txBody>
      </p: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13A22A94-2E74-F58D-C001-610EAE33381B}"/>
              </a:ext>
            </a:extLst>
          </p:cNvPr>
          <p:cNvCxnSpPr>
            <a:cxnSpLocks/>
            <a:stCxn id="10" idx="2"/>
            <a:endCxn id="103" idx="1"/>
          </p:cNvCxnSpPr>
          <p:nvPr/>
        </p:nvCxnSpPr>
        <p:spPr>
          <a:xfrm rot="16200000" flipH="1">
            <a:off x="2972266" y="2569604"/>
            <a:ext cx="395434" cy="1771863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54E00BFB-F7EC-7158-D6AC-1B94A6C5B003}"/>
              </a:ext>
            </a:extLst>
          </p:cNvPr>
          <p:cNvCxnSpPr>
            <a:cxnSpLocks/>
            <a:stCxn id="19" idx="2"/>
            <a:endCxn id="103" idx="3"/>
          </p:cNvCxnSpPr>
          <p:nvPr/>
        </p:nvCxnSpPr>
        <p:spPr>
          <a:xfrm rot="5400000">
            <a:off x="5967566" y="2657418"/>
            <a:ext cx="395434" cy="1596237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174E4938-2868-D68C-4725-85EBDBCE5D3D}"/>
              </a:ext>
            </a:extLst>
          </p:cNvPr>
          <p:cNvCxnSpPr>
            <a:cxnSpLocks/>
            <a:stCxn id="18" idx="2"/>
            <a:endCxn id="103" idx="0"/>
          </p:cNvCxnSpPr>
          <p:nvPr/>
        </p:nvCxnSpPr>
        <p:spPr>
          <a:xfrm rot="16200000" flipH="1">
            <a:off x="4589564" y="3377387"/>
            <a:ext cx="241545" cy="24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2CB62DC-130F-CEAE-8DFF-663699F54E08}"/>
              </a:ext>
            </a:extLst>
          </p:cNvPr>
          <p:cNvSpPr txBox="1"/>
          <p:nvPr/>
        </p:nvSpPr>
        <p:spPr>
          <a:xfrm>
            <a:off x="224387" y="8735434"/>
            <a:ext cx="3392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Pre-training: </a:t>
            </a:r>
            <a:r>
              <a:rPr lang="en-US" sz="1400" dirty="0"/>
              <a:t>PI-CAI (n≈1500) → </a:t>
            </a:r>
            <a:r>
              <a:rPr lang="en-US" sz="1400" dirty="0" err="1"/>
              <a:t>csPCa</a:t>
            </a:r>
            <a:r>
              <a:rPr lang="en-US" sz="1400" dirty="0"/>
              <a:t> representation learning. </a:t>
            </a:r>
          </a:p>
          <a:p>
            <a:r>
              <a:rPr lang="en-US" sz="1400" b="1" dirty="0"/>
              <a:t>Transfer learning: </a:t>
            </a:r>
            <a:r>
              <a:rPr lang="en-US" sz="1400" dirty="0"/>
              <a:t>CHIMERA (n=96) → BCR embedding extraction</a:t>
            </a:r>
          </a:p>
        </p:txBody>
      </p:sp>
    </p:spTree>
    <p:extLst>
      <p:ext uri="{BB962C8B-B14F-4D97-AF65-F5344CB8AC3E}">
        <p14:creationId xmlns:p14="http://schemas.microsoft.com/office/powerpoint/2010/main" val="329925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7402-D594-205E-D27A-EC45EE75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D4EDFE8-FAFB-8E41-2E5E-5A75ECF037E6}"/>
              </a:ext>
            </a:extLst>
          </p:cNvPr>
          <p:cNvSpPr txBox="1">
            <a:spLocks/>
          </p:cNvSpPr>
          <p:nvPr/>
        </p:nvSpPr>
        <p:spPr>
          <a:xfrm>
            <a:off x="608166" y="125533"/>
            <a:ext cx="10842306" cy="36590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MRI embeddings extraction – Global patient-level 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528AC88-9884-AB29-A550-CC4B8BEC97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" t="2192" r="39021" b="58857"/>
          <a:stretch>
            <a:fillRect/>
          </a:stretch>
        </p:blipFill>
        <p:spPr bwMode="auto">
          <a:xfrm>
            <a:off x="2977642" y="250888"/>
            <a:ext cx="3462979" cy="136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C90231-21A6-A99C-4706-B8852FA17F24}"/>
              </a:ext>
            </a:extLst>
          </p:cNvPr>
          <p:cNvSpPr/>
          <p:nvPr/>
        </p:nvSpPr>
        <p:spPr>
          <a:xfrm>
            <a:off x="1626020" y="1990200"/>
            <a:ext cx="1311255" cy="4856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T2W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07BD03-2AD6-F73D-9856-60B8F2AA705A}"/>
              </a:ext>
            </a:extLst>
          </p:cNvPr>
          <p:cNvSpPr/>
          <p:nvPr/>
        </p:nvSpPr>
        <p:spPr>
          <a:xfrm>
            <a:off x="4053505" y="1990200"/>
            <a:ext cx="1311255" cy="4856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ADC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5373A3-42D1-35AE-5D75-8CFEE9670813}"/>
              </a:ext>
            </a:extLst>
          </p:cNvPr>
          <p:cNvSpPr/>
          <p:nvPr/>
        </p:nvSpPr>
        <p:spPr>
          <a:xfrm>
            <a:off x="6307774" y="1990200"/>
            <a:ext cx="1311255" cy="48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HBV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3FF8DD-3706-4D11-E367-A4B31132DCAC}"/>
              </a:ext>
            </a:extLst>
          </p:cNvPr>
          <p:cNvSpPr/>
          <p:nvPr/>
        </p:nvSpPr>
        <p:spPr>
          <a:xfrm>
            <a:off x="1784522" y="2772187"/>
            <a:ext cx="999060" cy="4856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21E200-2E4D-F528-825C-DAC38B5E6205}"/>
              </a:ext>
            </a:extLst>
          </p:cNvPr>
          <p:cNvSpPr/>
          <p:nvPr/>
        </p:nvSpPr>
        <p:spPr>
          <a:xfrm>
            <a:off x="2760813" y="4138596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Enc2 — Conv3D 24→16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Concat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(8+8+8=24)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F8DF7E-D8F7-12AE-4AD4-8AE04DBBF7F7}"/>
              </a:ext>
            </a:extLst>
          </p:cNvPr>
          <p:cNvSpPr/>
          <p:nvPr/>
        </p:nvSpPr>
        <p:spPr>
          <a:xfrm>
            <a:off x="3926931" y="4920858"/>
            <a:ext cx="1564396" cy="48563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Pool2 (1,2,2)</a:t>
            </a:r>
          </a:p>
          <a:p>
            <a:pPr algn="ctr"/>
            <a:r>
              <a:rPr lang="en-BR" sz="1200" dirty="0">
                <a:latin typeface="Calibri" panose="020F0502020204030204" pitchFamily="34" charset="0"/>
                <a:cs typeface="Calibri" panose="020F0502020204030204" pitchFamily="34" charset="0"/>
              </a:rPr>
              <a:t>(16,48,24,24)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B88D525-20B3-E529-0D0F-496731DA5AD7}"/>
              </a:ext>
            </a:extLst>
          </p:cNvPr>
          <p:cNvSpPr/>
          <p:nvPr/>
        </p:nvSpPr>
        <p:spPr>
          <a:xfrm>
            <a:off x="2977642" y="5720639"/>
            <a:ext cx="3462979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Enc3 — Conv3D 16→32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16E036-9B7C-BEFE-EDE4-BED8792CDB93}"/>
              </a:ext>
            </a:extLst>
          </p:cNvPr>
          <p:cNvSpPr/>
          <p:nvPr/>
        </p:nvSpPr>
        <p:spPr>
          <a:xfrm>
            <a:off x="1621423" y="9754190"/>
            <a:ext cx="2142472" cy="64739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z_seq</a:t>
            </a:r>
            <a:r>
              <a:rPr lang="en-US" sz="1200" dirty="0"/>
              <a:t> — slice sequence</a:t>
            </a:r>
          </a:p>
          <a:p>
            <a:pPr algn="ctr"/>
            <a:r>
              <a:rPr lang="en-US" sz="1200" dirty="0"/>
              <a:t>shape: (48 or 24, 128)</a:t>
            </a:r>
          </a:p>
          <a:p>
            <a:pPr algn="ctr"/>
            <a:r>
              <a:rPr lang="en-US" sz="1200" dirty="0"/>
              <a:t>L2-normalized per token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1093C1-6C3C-67CC-E1C0-F150DABFC7B1}"/>
              </a:ext>
            </a:extLst>
          </p:cNvPr>
          <p:cNvSpPr/>
          <p:nvPr/>
        </p:nvSpPr>
        <p:spPr>
          <a:xfrm>
            <a:off x="5660473" y="10698457"/>
            <a:ext cx="2140501" cy="48563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Classification head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FC 128→2 + CE loss (weighted)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C0D76FF-004A-E993-9289-6CD2B3C22FF9}"/>
              </a:ext>
            </a:extLst>
          </p:cNvPr>
          <p:cNvSpPr/>
          <p:nvPr/>
        </p:nvSpPr>
        <p:spPr>
          <a:xfrm>
            <a:off x="4209602" y="2772187"/>
            <a:ext cx="999060" cy="4856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834AC3B-A3A2-5E97-39D6-ADD503F253EF}"/>
              </a:ext>
            </a:extLst>
          </p:cNvPr>
          <p:cNvSpPr/>
          <p:nvPr/>
        </p:nvSpPr>
        <p:spPr>
          <a:xfrm>
            <a:off x="6463871" y="2772187"/>
            <a:ext cx="999060" cy="48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E29E01-6B27-63AE-191C-2C14277C527F}"/>
              </a:ext>
            </a:extLst>
          </p:cNvPr>
          <p:cNvSpPr/>
          <p:nvPr/>
        </p:nvSpPr>
        <p:spPr>
          <a:xfrm>
            <a:off x="3926931" y="6504439"/>
            <a:ext cx="1564396" cy="48563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Pool3 (2,2,2)</a:t>
            </a:r>
          </a:p>
          <a:p>
            <a:pPr algn="ctr"/>
            <a:r>
              <a:rPr lang="en-BR" sz="1200" dirty="0">
                <a:latin typeface="Calibri" panose="020F0502020204030204" pitchFamily="34" charset="0"/>
                <a:cs typeface="Calibri" panose="020F0502020204030204" pitchFamily="34" charset="0"/>
              </a:rPr>
              <a:t>(32,48,12,12)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F91E80-A869-3536-FDD3-3983697F9496}"/>
              </a:ext>
            </a:extLst>
          </p:cNvPr>
          <p:cNvSpPr/>
          <p:nvPr/>
        </p:nvSpPr>
        <p:spPr>
          <a:xfrm>
            <a:off x="3199408" y="7283013"/>
            <a:ext cx="3007976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Enc4 — Conv3D 32→64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Output (64,48,12,12)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AF3EA2F6-A2FF-49AA-A884-10E2E7C0DF56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3307322" y="588390"/>
            <a:ext cx="376136" cy="2427484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7CBD5B7E-054B-3AC6-13F3-9EAD6C8F2CE5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5648199" y="674997"/>
            <a:ext cx="376136" cy="225427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E263B784-7C10-209E-AE06-2189E9FC54CB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521064" y="1802131"/>
            <a:ext cx="376136" cy="1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E51E8F-0CD8-19CE-F350-76A6D132E151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2281648" y="2475832"/>
            <a:ext cx="2404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C4C0E4-D623-3E5C-2542-6A039AF73EE5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flipH="1">
            <a:off x="4709132" y="2475832"/>
            <a:ext cx="1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9EB5F3-1A39-F683-C768-E6D3D049C3EE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 flipH="1">
            <a:off x="6963401" y="2475832"/>
            <a:ext cx="1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E1B2C74-1DC1-4B2E-988D-FFD4C9B23E9F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4560815" y="4772542"/>
            <a:ext cx="296630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6ABD7851-BFAC-5023-89F4-7ACCFAC1972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552056" y="5563562"/>
            <a:ext cx="314149" cy="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DBC438C3-4633-B615-DA42-3B65B6B42593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rot="5400000">
            <a:off x="4560047" y="6355354"/>
            <a:ext cx="298168" cy="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A757FDAC-2018-5DDF-11FD-C65173917BED}"/>
              </a:ext>
            </a:extLst>
          </p:cNvPr>
          <p:cNvCxnSpPr>
            <a:cxnSpLocks/>
            <a:stCxn id="63" idx="2"/>
            <a:endCxn id="17" idx="0"/>
          </p:cNvCxnSpPr>
          <p:nvPr/>
        </p:nvCxnSpPr>
        <p:spPr>
          <a:xfrm rot="16200000" flipH="1">
            <a:off x="6581794" y="10549526"/>
            <a:ext cx="296875" cy="98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9E6CC28A-B6AE-48FE-5BB9-817EBDCFA84B}"/>
              </a:ext>
            </a:extLst>
          </p:cNvPr>
          <p:cNvCxnSpPr>
            <a:cxnSpLocks/>
            <a:stCxn id="27" idx="2"/>
            <a:endCxn id="11" idx="0"/>
          </p:cNvCxnSpPr>
          <p:nvPr/>
        </p:nvCxnSpPr>
        <p:spPr>
          <a:xfrm rot="16200000" flipH="1">
            <a:off x="4407501" y="3836966"/>
            <a:ext cx="603254" cy="6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7EA23140-B28E-3F35-D793-BE547B99F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5338" y="1239663"/>
            <a:ext cx="6477000" cy="97155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14B96EF-DD91-0C62-8862-6E7F0C390BD4}"/>
              </a:ext>
            </a:extLst>
          </p:cNvPr>
          <p:cNvSpPr txBox="1"/>
          <p:nvPr/>
        </p:nvSpPr>
        <p:spPr>
          <a:xfrm>
            <a:off x="1784537" y="3240728"/>
            <a:ext cx="99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(8,48,48,48)</a:t>
            </a:r>
            <a:endParaRPr lang="en-BR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AB5B7-1CC5-5967-511F-86CC739D7FBB}"/>
              </a:ext>
            </a:extLst>
          </p:cNvPr>
          <p:cNvSpPr txBox="1"/>
          <p:nvPr/>
        </p:nvSpPr>
        <p:spPr>
          <a:xfrm>
            <a:off x="4209602" y="3258343"/>
            <a:ext cx="99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(8,48,48,48)</a:t>
            </a:r>
            <a:endParaRPr lang="en-BR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E00E1-0D8F-1D13-B1E4-7325187FC093}"/>
              </a:ext>
            </a:extLst>
          </p:cNvPr>
          <p:cNvSpPr txBox="1"/>
          <p:nvPr/>
        </p:nvSpPr>
        <p:spPr>
          <a:xfrm>
            <a:off x="6463886" y="3240727"/>
            <a:ext cx="99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(8,48,48,48)</a:t>
            </a:r>
            <a:endParaRPr lang="en-BR" sz="1200" dirty="0"/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9EAB5F8-E628-4F50-B2ED-BF66617ADCD5}"/>
              </a:ext>
            </a:extLst>
          </p:cNvPr>
          <p:cNvCxnSpPr>
            <a:cxnSpLocks/>
            <a:stCxn id="26" idx="2"/>
          </p:cNvCxnSpPr>
          <p:nvPr/>
        </p:nvCxnSpPr>
        <p:spPr>
          <a:xfrm rot="16200000" flipH="1">
            <a:off x="3380932" y="2420854"/>
            <a:ext cx="217368" cy="2411113"/>
          </a:xfrm>
          <a:prstGeom prst="bentConnector2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4363F4A-1DDB-7D0F-D42A-89F0EA9182F3}"/>
              </a:ext>
            </a:extLst>
          </p:cNvPr>
          <p:cNvCxnSpPr>
            <a:cxnSpLocks/>
            <a:stCxn id="28" idx="2"/>
          </p:cNvCxnSpPr>
          <p:nvPr/>
        </p:nvCxnSpPr>
        <p:spPr>
          <a:xfrm rot="5400000">
            <a:off x="5477822" y="2249507"/>
            <a:ext cx="217369" cy="2753807"/>
          </a:xfrm>
          <a:prstGeom prst="bentConnector2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3A29FEC-D4BE-0DF6-CEC9-97D2C18931E2}"/>
              </a:ext>
            </a:extLst>
          </p:cNvPr>
          <p:cNvSpPr txBox="1"/>
          <p:nvPr/>
        </p:nvSpPr>
        <p:spPr>
          <a:xfrm>
            <a:off x="1626020" y="3778971"/>
            <a:ext cx="2555835" cy="31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Shared trunk – depth preserved</a:t>
            </a:r>
            <a:endParaRPr lang="en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163751EB-74C7-3A91-1ECA-BED9209B315E}"/>
              </a:ext>
            </a:extLst>
          </p:cNvPr>
          <p:cNvCxnSpPr>
            <a:cxnSpLocks/>
          </p:cNvCxnSpPr>
          <p:nvPr/>
        </p:nvCxnSpPr>
        <p:spPr>
          <a:xfrm rot="5400000">
            <a:off x="4563856" y="7132794"/>
            <a:ext cx="29816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0ED2658-8F8B-E665-25B1-4DE03F431392}"/>
              </a:ext>
            </a:extLst>
          </p:cNvPr>
          <p:cNvSpPr/>
          <p:nvPr/>
        </p:nvSpPr>
        <p:spPr>
          <a:xfrm>
            <a:off x="3509326" y="8088883"/>
            <a:ext cx="2496051" cy="48563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Spatial mean pool (H,W axes)</a:t>
            </a:r>
          </a:p>
          <a:p>
            <a:pPr algn="ctr"/>
            <a:r>
              <a:rPr lang="en-BR" sz="1200" dirty="0">
                <a:latin typeface="Calibri" panose="020F0502020204030204" pitchFamily="34" charset="0"/>
                <a:cs typeface="Calibri" panose="020F0502020204030204" pitchFamily="34" charset="0"/>
              </a:rPr>
              <a:t>(64,48,12,12)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→ (64,48)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2755879-35A8-5129-A80A-4DF20C72B253}"/>
              </a:ext>
            </a:extLst>
          </p:cNvPr>
          <p:cNvSpPr/>
          <p:nvPr/>
        </p:nvSpPr>
        <p:spPr>
          <a:xfrm>
            <a:off x="3509326" y="8890065"/>
            <a:ext cx="2496048" cy="48563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Transpose + Dropout + FC</a:t>
            </a:r>
          </a:p>
          <a:p>
            <a:pPr algn="ctr"/>
            <a:r>
              <a:rPr lang="pt-PT" sz="1200" dirty="0">
                <a:latin typeface="Calibri" panose="020F0502020204030204" pitchFamily="34" charset="0"/>
                <a:cs typeface="Calibri" panose="020F0502020204030204" pitchFamily="34" charset="0"/>
              </a:rPr>
              <a:t>(48,64)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→ (48,128) =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z_seq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B30CC41-8D01-2814-54DC-B7906F5C9814}"/>
              </a:ext>
            </a:extLst>
          </p:cNvPr>
          <p:cNvSpPr/>
          <p:nvPr/>
        </p:nvSpPr>
        <p:spPr>
          <a:xfrm>
            <a:off x="5658503" y="9754190"/>
            <a:ext cx="2142472" cy="64739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z_global</a:t>
            </a:r>
            <a:r>
              <a:rPr lang="en-US" sz="1200" dirty="0"/>
              <a:t> — patient-level</a:t>
            </a:r>
          </a:p>
          <a:p>
            <a:pPr algn="ctr"/>
            <a:r>
              <a:rPr lang="en-US" sz="1200" dirty="0"/>
              <a:t>mean(</a:t>
            </a:r>
            <a:r>
              <a:rPr lang="en-US" sz="1200" dirty="0" err="1"/>
              <a:t>z_seq</a:t>
            </a:r>
            <a:r>
              <a:rPr lang="en-US" sz="1200" dirty="0"/>
              <a:t>, dim=0) → (128,)</a:t>
            </a:r>
          </a:p>
          <a:p>
            <a:pPr algn="ctr"/>
            <a:r>
              <a:rPr lang="en-US" sz="1200" dirty="0"/>
              <a:t>L2-normalized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5BE09F-B11C-D06A-C058-408D3C30E418}"/>
              </a:ext>
            </a:extLst>
          </p:cNvPr>
          <p:cNvSpPr txBox="1"/>
          <p:nvPr/>
        </p:nvSpPr>
        <p:spPr>
          <a:xfrm>
            <a:off x="5658503" y="11252948"/>
            <a:ext cx="2142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csPCa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label (PICAI)</a:t>
            </a:r>
            <a:endParaRPr lang="en-BR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9E3F06-8D58-66B7-2CC8-A1EB5C30BD4D}"/>
              </a:ext>
            </a:extLst>
          </p:cNvPr>
          <p:cNvSpPr txBox="1"/>
          <p:nvPr/>
        </p:nvSpPr>
        <p:spPr>
          <a:xfrm>
            <a:off x="1580270" y="10420017"/>
            <a:ext cx="30079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 1: </a:t>
            </a:r>
            <a:r>
              <a:rPr lang="en-US" sz="1400" dirty="0"/>
              <a:t>train on PI-CAI (n=1500) </a:t>
            </a:r>
            <a:r>
              <a:rPr lang="en-US" sz="1400" dirty="0" err="1"/>
              <a:t>csPCa</a:t>
            </a:r>
            <a:r>
              <a:rPr lang="en-US" sz="1400" dirty="0"/>
              <a:t> detection task</a:t>
            </a:r>
          </a:p>
          <a:p>
            <a:r>
              <a:rPr lang="en-US" sz="1400" b="1" dirty="0"/>
              <a:t>Step 2: </a:t>
            </a:r>
            <a:r>
              <a:rPr lang="en-US" sz="1400" dirty="0"/>
              <a:t>freeze → extract </a:t>
            </a:r>
            <a:r>
              <a:rPr lang="en-US" sz="1400" dirty="0" err="1"/>
              <a:t>z_seq</a:t>
            </a:r>
            <a:r>
              <a:rPr lang="en-US" sz="1400" dirty="0"/>
              <a:t> + </a:t>
            </a:r>
            <a:r>
              <a:rPr lang="en-US" sz="1400" dirty="0" err="1"/>
              <a:t>z_global</a:t>
            </a:r>
            <a:r>
              <a:rPr lang="en-US" sz="1400" dirty="0"/>
              <a:t> for CHIMERA (n=96)</a:t>
            </a:r>
            <a:endParaRPr lang="en-BR" sz="1400" dirty="0"/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D648F66-99DF-2AAB-86E5-20197F36BB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4756" y="7932587"/>
            <a:ext cx="314149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82EB4D49-CE08-3CBF-8BD1-1929DE1629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204" y="8733259"/>
            <a:ext cx="314149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39654AB-DD4C-A170-5522-172685660696}"/>
              </a:ext>
            </a:extLst>
          </p:cNvPr>
          <p:cNvCxnSpPr>
            <a:cxnSpLocks/>
            <a:stCxn id="55" idx="2"/>
            <a:endCxn id="14" idx="0"/>
          </p:cNvCxnSpPr>
          <p:nvPr/>
        </p:nvCxnSpPr>
        <p:spPr>
          <a:xfrm rot="5400000">
            <a:off x="3535759" y="8532599"/>
            <a:ext cx="378492" cy="206469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5CCC2EC7-1D34-0A2E-1FD0-1FD4A6EC4181}"/>
              </a:ext>
            </a:extLst>
          </p:cNvPr>
          <p:cNvCxnSpPr>
            <a:cxnSpLocks/>
            <a:stCxn id="55" idx="2"/>
            <a:endCxn id="63" idx="0"/>
          </p:cNvCxnSpPr>
          <p:nvPr/>
        </p:nvCxnSpPr>
        <p:spPr>
          <a:xfrm rot="16200000" flipH="1">
            <a:off x="5554298" y="8578749"/>
            <a:ext cx="378492" cy="1972389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475CFD8-EB3F-A680-329E-ED1B41C9A972}"/>
              </a:ext>
            </a:extLst>
          </p:cNvPr>
          <p:cNvSpPr/>
          <p:nvPr/>
        </p:nvSpPr>
        <p:spPr>
          <a:xfrm>
            <a:off x="1621423" y="3636312"/>
            <a:ext cx="5997606" cy="5857971"/>
          </a:xfrm>
          <a:prstGeom prst="roundRect">
            <a:avLst>
              <a:gd name="adj" fmla="val 4539"/>
            </a:avLst>
          </a:prstGeom>
          <a:noFill/>
          <a:ln>
            <a:solidFill>
              <a:srgbClr val="59595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1114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CB1C-E507-C299-B9D4-D1FA721F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AFC78AD-7564-3802-B42D-23B0305A9967}"/>
              </a:ext>
            </a:extLst>
          </p:cNvPr>
          <p:cNvSpPr txBox="1">
            <a:spLocks/>
          </p:cNvSpPr>
          <p:nvPr/>
        </p:nvSpPr>
        <p:spPr>
          <a:xfrm>
            <a:off x="608166" y="125533"/>
            <a:ext cx="10842306" cy="36590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MRI embeddings extraction – Global patient-level 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2B8C85C-FA21-C856-CA42-8C6F6B2CC9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" t="2192" r="39021" b="58857"/>
          <a:stretch>
            <a:fillRect/>
          </a:stretch>
        </p:blipFill>
        <p:spPr bwMode="auto">
          <a:xfrm>
            <a:off x="2977642" y="250888"/>
            <a:ext cx="3462979" cy="136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CB1E57-740B-E8D4-1F7C-14E44AD8897B}"/>
              </a:ext>
            </a:extLst>
          </p:cNvPr>
          <p:cNvSpPr/>
          <p:nvPr/>
        </p:nvSpPr>
        <p:spPr>
          <a:xfrm>
            <a:off x="1626020" y="1990200"/>
            <a:ext cx="1311255" cy="4856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T2W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6133D1-717C-994C-DB37-AD8F969A8E9D}"/>
              </a:ext>
            </a:extLst>
          </p:cNvPr>
          <p:cNvSpPr/>
          <p:nvPr/>
        </p:nvSpPr>
        <p:spPr>
          <a:xfrm>
            <a:off x="4053505" y="1990200"/>
            <a:ext cx="1311255" cy="4856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ADC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352FBC9-839E-827E-43D4-136B301BCB8D}"/>
              </a:ext>
            </a:extLst>
          </p:cNvPr>
          <p:cNvSpPr/>
          <p:nvPr/>
        </p:nvSpPr>
        <p:spPr>
          <a:xfrm>
            <a:off x="6307774" y="1990200"/>
            <a:ext cx="1311255" cy="48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Stem HBV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Conv3D 1→8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FA0350E-EFDE-A34D-B2C7-8C50C5F03578}"/>
              </a:ext>
            </a:extLst>
          </p:cNvPr>
          <p:cNvSpPr/>
          <p:nvPr/>
        </p:nvSpPr>
        <p:spPr>
          <a:xfrm>
            <a:off x="1784522" y="2772187"/>
            <a:ext cx="999060" cy="4856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E697A6D-837F-98D7-BAEF-3A4DD0B17F1A}"/>
              </a:ext>
            </a:extLst>
          </p:cNvPr>
          <p:cNvSpPr/>
          <p:nvPr/>
        </p:nvSpPr>
        <p:spPr>
          <a:xfrm>
            <a:off x="2760813" y="3481579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Enc2 — Conv3D 24→16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Shared trunk block 1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67A44B-74ED-F44C-3683-5936773A5566}"/>
              </a:ext>
            </a:extLst>
          </p:cNvPr>
          <p:cNvSpPr/>
          <p:nvPr/>
        </p:nvSpPr>
        <p:spPr>
          <a:xfrm>
            <a:off x="3926931" y="4194149"/>
            <a:ext cx="1564396" cy="48563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Pool2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070057C-E61F-71E7-E2F7-9CD9D0FB748E}"/>
              </a:ext>
            </a:extLst>
          </p:cNvPr>
          <p:cNvSpPr/>
          <p:nvPr/>
        </p:nvSpPr>
        <p:spPr>
          <a:xfrm>
            <a:off x="2760813" y="4902490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Enc3 — Conv3D 16→32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Shared trunk block 2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495DE3-B203-6ADB-4DB6-3D4C628013CA}"/>
              </a:ext>
            </a:extLst>
          </p:cNvPr>
          <p:cNvSpPr/>
          <p:nvPr/>
        </p:nvSpPr>
        <p:spPr>
          <a:xfrm>
            <a:off x="1621424" y="7036496"/>
            <a:ext cx="1999858" cy="48563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Adaptive AvgPool3D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Global pattern (1×64)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6824C6-2022-1129-DA7B-FDEE181AFB41}"/>
              </a:ext>
            </a:extLst>
          </p:cNvPr>
          <p:cNvSpPr/>
          <p:nvPr/>
        </p:nvSpPr>
        <p:spPr>
          <a:xfrm>
            <a:off x="5619170" y="7036496"/>
            <a:ext cx="1999859" cy="48563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Adaptive MaxPool3D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Focal signal (1×64)</a:t>
            </a:r>
            <a:endParaRPr lang="en-BR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CC8C49C-30CE-DFCE-5955-AAE1FBB7B1C5}"/>
              </a:ext>
            </a:extLst>
          </p:cNvPr>
          <p:cNvSpPr/>
          <p:nvPr/>
        </p:nvSpPr>
        <p:spPr>
          <a:xfrm>
            <a:off x="3621282" y="7699215"/>
            <a:ext cx="1999859" cy="48563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Dropout + FC linear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64-d embedding z</a:t>
            </a:r>
            <a:endParaRPr lang="en-BR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682DB30-5FA3-C84F-60CD-6B8085EA0F73}"/>
              </a:ext>
            </a:extLst>
          </p:cNvPr>
          <p:cNvSpPr/>
          <p:nvPr/>
        </p:nvSpPr>
        <p:spPr>
          <a:xfrm>
            <a:off x="3621282" y="8527875"/>
            <a:ext cx="1997888" cy="48563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Classification head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FC 64→2, CE loss (weighted)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6B2738B-B76D-6EA6-7EA1-C1AEE993F61F}"/>
              </a:ext>
            </a:extLst>
          </p:cNvPr>
          <p:cNvSpPr/>
          <p:nvPr/>
        </p:nvSpPr>
        <p:spPr>
          <a:xfrm>
            <a:off x="4209602" y="2772187"/>
            <a:ext cx="999060" cy="4856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79E004D-E444-E7F6-0B74-DDD366019284}"/>
              </a:ext>
            </a:extLst>
          </p:cNvPr>
          <p:cNvSpPr/>
          <p:nvPr/>
        </p:nvSpPr>
        <p:spPr>
          <a:xfrm>
            <a:off x="6463871" y="2772187"/>
            <a:ext cx="999060" cy="48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Pool1 (1,2,2)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965CCCB-28A3-B237-F938-C27AB7C6CA3D}"/>
              </a:ext>
            </a:extLst>
          </p:cNvPr>
          <p:cNvSpPr/>
          <p:nvPr/>
        </p:nvSpPr>
        <p:spPr>
          <a:xfrm>
            <a:off x="3926931" y="5617710"/>
            <a:ext cx="1564396" cy="48563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Pool3 (2,2,2)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9A8EAB7-95B1-1AB5-CB4E-457DC69972AE}"/>
              </a:ext>
            </a:extLst>
          </p:cNvPr>
          <p:cNvSpPr/>
          <p:nvPr/>
        </p:nvSpPr>
        <p:spPr>
          <a:xfrm>
            <a:off x="2765751" y="6327103"/>
            <a:ext cx="3896635" cy="4856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Enc4 — Conv3D 32→64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Shared trunk block 3</a:t>
            </a:r>
            <a:endParaRPr lang="en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DB204275-FAB2-96C2-9B9D-04EFB6D0E848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3307322" y="588390"/>
            <a:ext cx="376136" cy="2427484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259B04E-FCB1-DF2C-D11F-F7FAA07C413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5648199" y="674997"/>
            <a:ext cx="376136" cy="225427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4529C79-14FF-3F63-E1BC-D928F8B6C5F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4521064" y="1802131"/>
            <a:ext cx="376136" cy="1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F6717B-6AA0-E256-8D5F-ACC1AC3F202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2281648" y="2475832"/>
            <a:ext cx="2404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9D36419-2912-94EE-FD18-945EA3F883F1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flipH="1">
            <a:off x="4709132" y="2475832"/>
            <a:ext cx="1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C4C12E-4F11-C414-E820-E817D684B23F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 flipH="1">
            <a:off x="6963401" y="2475832"/>
            <a:ext cx="1" cy="29635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144B009F-FA48-91A8-AFE0-4BE3972A15A0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2289144" y="3252726"/>
            <a:ext cx="466576" cy="476761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D171B5F3-A778-DAF3-C774-CFC07C25BF6D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5400000">
            <a:off x="4597252" y="3369699"/>
            <a:ext cx="223760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BE4EB00-7C3C-0D33-522A-EBA7C58CBDF5}"/>
              </a:ext>
            </a:extLst>
          </p:cNvPr>
          <p:cNvCxnSpPr>
            <a:cxnSpLocks/>
            <a:stCxn id="19" idx="2"/>
            <a:endCxn id="11" idx="3"/>
          </p:cNvCxnSpPr>
          <p:nvPr/>
        </p:nvCxnSpPr>
        <p:spPr>
          <a:xfrm rot="5400000">
            <a:off x="6577137" y="3338131"/>
            <a:ext cx="466576" cy="305953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4804C24B-E552-0834-7009-8B43F64683B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4595661" y="4080679"/>
            <a:ext cx="22693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7DFBA350-93C6-3639-CA04-90399D242B97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597776" y="4791134"/>
            <a:ext cx="222709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4A1133C1-0F2F-DE3A-298F-3BFA821C0D16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rot="5400000">
            <a:off x="4594336" y="5502915"/>
            <a:ext cx="22958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411DF820-0AF6-A003-E34D-48014464C411}"/>
              </a:ext>
            </a:extLst>
          </p:cNvPr>
          <p:cNvCxnSpPr>
            <a:cxnSpLocks/>
          </p:cNvCxnSpPr>
          <p:nvPr/>
        </p:nvCxnSpPr>
        <p:spPr>
          <a:xfrm rot="5400000">
            <a:off x="4595483" y="6212206"/>
            <a:ext cx="229588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BD3DD6B7-7971-EE1E-E0AC-1CAB07E6335F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 rot="5400000">
            <a:off x="3555831" y="5878257"/>
            <a:ext cx="223761" cy="209271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6475D02-D37E-2EE9-8FC9-09E79CF17A3E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rot="16200000" flipH="1">
            <a:off x="5554704" y="5972099"/>
            <a:ext cx="223761" cy="190503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E484AFAB-F10C-E9B5-814A-88AC14E85943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2911366" y="7232115"/>
            <a:ext cx="419902" cy="9999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8ACF5A22-9525-B44C-2B14-AFAF12124778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5910170" y="7233101"/>
            <a:ext cx="419902" cy="99795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4468382-59FD-96C8-55AE-9853BBFCF29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4449205" y="8355868"/>
            <a:ext cx="343028" cy="98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C3B849A5-EDB8-B82F-16E0-9A4AA7391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5338" y="1239663"/>
            <a:ext cx="6477000" cy="971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2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</TotalTime>
  <Words>474</Words>
  <Application>Microsoft Macintosh PowerPoint</Application>
  <PresentationFormat>A3 Paper (297x420 mm)</PresentationFormat>
  <Paragraphs>93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Lautert Dutra, William L</dc:creator>
  <cp:lastModifiedBy>Lautert Dutra, William L</cp:lastModifiedBy>
  <cp:revision>1</cp:revision>
  <dcterms:created xsi:type="dcterms:W3CDTF">2026-04-19T17:20:07Z</dcterms:created>
  <dcterms:modified xsi:type="dcterms:W3CDTF">2026-04-19T22:55:20Z</dcterms:modified>
</cp:coreProperties>
</file>